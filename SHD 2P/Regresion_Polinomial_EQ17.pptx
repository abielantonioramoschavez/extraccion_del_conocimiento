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s-MX" sz="1300" b="0" i="0" u="none" strike="noStrike">
                <a:solidFill>
                  <a:srgbClr val="1B2A4A"/>
                </a:solidFill>
                <a:latin typeface="Calibri"/>
              </a:rPr>
              <a:t>Ejemplo de relación no lineal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Datos observados</c:v>
                </c:pt>
              </c:strCache>
            </c:strRef>
          </c:tx>
          <c:spPr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34</c:v>
                </c:pt>
                <c:pt idx="4">
                  <c:v>41</c:v>
                </c:pt>
                <c:pt idx="5">
                  <c:v>63</c:v>
                </c:pt>
                <c:pt idx="6">
                  <c:v>78</c:v>
                </c:pt>
                <c:pt idx="7">
                  <c:v>108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EA2-4877-A136-467A194F6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s-MX" sz="1000" b="0" i="0" u="none" strike="noStrike">
                    <a:solidFill>
                      <a:srgbClr val="5B6B8C"/>
                    </a:solidFill>
                    <a:latin typeface="Arial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s-MX" sz="1000" b="0" i="0" u="none" strike="noStrike">
                    <a:solidFill>
                      <a:srgbClr val="5B6B8C"/>
                    </a:solidFill>
                    <a:latin typeface="Arial"/>
                  </a:rPr>
                  <a:t>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B4383-E93B-4AB6-BD93-1BB2C6EE6DC2}" type="datetimeFigureOut">
              <a:t>16/07/2026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A3CDC-7F1B-4131-A500-62B4C660AF7F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787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846320"/>
            <a:ext cx="5486400" cy="54864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468880"/>
            <a:ext cx="5943600" cy="59436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kern="0" spc="200" dirty="0" err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Extracción</a:t>
            </a:r>
            <a:r>
              <a:rPr lang="en-US" sz="1400" b="1" kern="0" spc="200" dirty="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b="1" kern="0" spc="200" dirty="0" err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Conocimiento</a:t>
            </a:r>
            <a:r>
              <a:rPr lang="en-US" sz="1400" b="1" kern="0" spc="200" dirty="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kern="0" spc="200" dirty="0" err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400" b="1" kern="0" spc="200" dirty="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 Bases de Datos</a:t>
            </a:r>
            <a:endParaRPr lang="en-US" sz="1400" b="1" kern="0" spc="200" dirty="0">
              <a:solidFill>
                <a:srgbClr val="2EC4B6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Polinomial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de Machine Learning supervisado para modelar relaciones no lineales entre variables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0" y="187452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icon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0" y="2217420"/>
            <a:ext cx="685800" cy="685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4160520"/>
            <a:ext cx="10515600" cy="1920240"/>
          </a:xfrm>
          <a:prstGeom prst="rect">
            <a:avLst/>
          </a:prstGeom>
          <a:solidFill>
            <a:srgbClr val="121D35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4663440"/>
            <a:ext cx="99669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Grecia Ivonne Alvarado Reyes   •   Abiel Antonio Ramos Chavez   •   Manuel Mendoza Pimentel
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 María Guadalupe Mendoza Zamudio</a:t>
            </a:r>
            <a:endParaRPr lang="en-US" sz="13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728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9FB3D9"/>
                </a:solidFill>
                <a:latin typeface="Calibri"/>
                <a:ea typeface="Calibri"/>
                <a:cs typeface="Calibri"/>
              </a:rPr>
              <a:t>Profesor</a:t>
            </a:r>
            <a:r>
              <a:rPr lang="en-US" sz="1200" dirty="0">
                <a:solidFill>
                  <a:srgbClr val="9FB3D9"/>
                </a:solidFill>
                <a:latin typeface="Calibri"/>
                <a:ea typeface="Calibri"/>
                <a:cs typeface="Calibri"/>
              </a:rPr>
              <a:t>: María Reina Zarate Nava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4572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73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Regresión Polinomial?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8437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770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1363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Grado, coeficientes y transformación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014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9410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matemático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43068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del modelo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5111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54772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paso a paso del algoritmo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1673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grado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vs. Overfitting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28437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2770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vs. Polinomial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31363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modelos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4014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39410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43068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 usarlo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5184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5111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aplicaciones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54772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casos reales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Regresión Polinomial?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algoritmo de aprendizaje supervisado, derivado de la regresión lineal, que modela la relación entre una variable independiente X y una variable dependiente Y como un polinomio de grado 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 regresión lineal simple, permite capturar curvas y patrones más complejos en los datos, sin dejar de ser, matemáticamente, un modelo lineal en sus coeficientes.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6126480" cy="12344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9377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511263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828032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los datos muestran una tendencia curva que un modelo recto no logra representar con precisión.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086600" y="1691640"/>
          <a:ext cx="4480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clave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fundamentales para entender el algoritmo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920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ar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2288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47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X e 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1168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es la variable independiente (predictor) y Y la variable dependiente (lo que se estima).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920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868680" cy="8686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icons/super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22288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947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del polinomio (n)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8952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cuántas potencias de X se incluyen (X², X³...). Controla la flexibilidad de la curva.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120640" cy="1920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9768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equ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70" y="451485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33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(β)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011680" y="4663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que el modelo aprende durante el entrenamiento para ajustar la curva a los datos.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120640" cy="1920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97680"/>
            <a:ext cx="868680" cy="8686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0" y="45148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33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polinomial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89520" y="4663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feature engineering que genera nuevas columnas con potencias de X.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2011680"/>
            <a:ext cx="5029200" cy="50292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matemático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general del modelo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07040" cy="1554480"/>
          </a:xfrm>
          <a:prstGeom prst="rect">
            <a:avLst/>
          </a:prstGeom>
          <a:solidFill>
            <a:srgbClr val="121D3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</a:t>
            </a:r>
            <a:r>
              <a:rPr lang="en-US" sz="30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β</a:t>
            </a:r>
            <a:r>
              <a:rPr lang="en-US" sz="30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β</a:t>
            </a:r>
            <a:r>
              <a:rPr lang="en-US" sz="30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3000" b="1" baseline="3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β</a:t>
            </a:r>
            <a:r>
              <a:rPr lang="en-US" sz="30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3000" b="1" baseline="3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... + β</a:t>
            </a:r>
            <a:r>
              <a:rPr lang="en-US" sz="30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3000" b="1" baseline="3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37947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(lo que se predice)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4343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 (el predictor)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β₀ ... βₙ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que el modelo aprende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5440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del polinomio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989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48840" y="59893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de error (ruido no explicado)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del algoritmo, paso a paso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3749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011680"/>
            <a:ext cx="960120" cy="9601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25171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Datos de entrada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parte de un conjunto de datos con variable(s) independiente(s) y una variable objetivo.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08960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0712" y="1691640"/>
            <a:ext cx="2514600" cy="37490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4187952" y="201168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2" y="225171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93592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 genera nuevas columnas: X, X², X³ ... Xⁿ.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79592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181344" y="1691640"/>
            <a:ext cx="2514600" cy="3749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3"/>
          <p:cNvSpPr/>
          <p:nvPr/>
        </p:nvSpPr>
        <p:spPr>
          <a:xfrm>
            <a:off x="6958584" y="2011680"/>
            <a:ext cx="960120" cy="9601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2" descr="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614" y="2251710"/>
            <a:ext cx="480060" cy="4800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Ajuste del modelo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regresión lineal (mínimos cuadrados) sobre las variables transformadas.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50224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951976" y="1691640"/>
            <a:ext cx="2514600" cy="37490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3" name="Shape 18"/>
          <p:cNvSpPr/>
          <p:nvPr/>
        </p:nvSpPr>
        <p:spPr>
          <a:xfrm>
            <a:off x="9729216" y="201168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9246" y="2251710"/>
            <a:ext cx="480060" cy="4800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Predicción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34856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estima valores de Y para nuevos datos de X.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grado del polinomio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paso crítico: ni muy simple, ni demasiado complejo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383280" cy="3794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148840"/>
            <a:ext cx="1005840" cy="10058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6" name="Image 0" descr="icons/f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24003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muy bajo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420624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simple: no logra capturar el patrón real de los datos.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783080"/>
            <a:ext cx="3383280" cy="3794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2148840"/>
            <a:ext cx="1005840" cy="10058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icons/sm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4003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correcto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adecuado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420624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generaliza bien: captura la tendencia sin memorizar el ruido.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3880" y="1783080"/>
            <a:ext cx="3383280" cy="3794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7" name="Shape 13"/>
          <p:cNvSpPr/>
          <p:nvPr/>
        </p:nvSpPr>
        <p:spPr>
          <a:xfrm>
            <a:off x="9372600" y="2148840"/>
            <a:ext cx="1005840" cy="10058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8" name="Image 2" descr="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4003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6676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muy alto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03920" y="420624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memoriza los datos de entrenamiento y falla al predecir datos nuevos.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el grado óptimo se elige comparando el desempeño (R²) en entrenamiento y prueba, o mediante validación cruzada.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 vs. Polinomial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029200" cy="4114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574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297180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una relación en línea recta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Ecuación: Y = β₀ + β₁X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relaciones simples y directas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riesgo de overfitting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ante patrones curvos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029200" cy="4114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05740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icons/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22631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97180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relaciones curvas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Ecuación: Y = β₀ + β₁X + ... + βₙX^n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patrones más complejos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 overfitting si n es alto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elegir bien el grado 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desventajas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usar este algoritmo?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029200" cy="4114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29968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thumb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85" y="2184273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288036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relaciones no lineales entre variables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usando el marco matemático de la regresión lineal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implementar con librerías como scikit-learn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el grado se ajusta según la complejidad de los datos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029200" cy="4114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029968"/>
            <a:ext cx="685800" cy="6858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1" name="Image 1" descr="icons/thumbs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2184273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88036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 de overfitting con grados elevados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valores atípicos (outliers)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difícil de interpretar que un modelo lineal simple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validar cuidadosamente el grado óptimo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evaluación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bien predice el modelo?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74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659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perce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22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determinación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" y="274320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la variabilidad de Y explicada por el modelo (0 a 1, más alto es mejor).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120640" cy="1874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19659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21602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452360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Cuadrático Medio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73952" y="274320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errores al cuadrado. Penaliza fuertemente los errores grandes.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886200"/>
            <a:ext cx="5120640" cy="18745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41605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icons/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" y="435483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1874520" y="4453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Error Cuadrático Medio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96112" y="493776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el MSE, pero en las mismas unidades que la variable original.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3886200"/>
            <a:ext cx="5120640" cy="18745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3" name="Shape 18"/>
          <p:cNvSpPr/>
          <p:nvPr/>
        </p:nvSpPr>
        <p:spPr>
          <a:xfrm>
            <a:off x="6473952" y="41605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262" y="435483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452360" y="4453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73952" y="493776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errores en valor absoluto; más robusto ante valores atípicos.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en el mundo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 donde se usa la regresión polinomial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9601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20745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y Finanzas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12080" y="1856232"/>
            <a:ext cx="5943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crecimiento de ingresos, salarios o inversión en función de la experiencia o el tiempo.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880360"/>
            <a:ext cx="10607040" cy="9601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301752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icons/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45" y="317182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971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12080" y="2953512"/>
            <a:ext cx="5943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la progresión de enfermedades o la respuesta a dosis de un tratamiento.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3977640"/>
            <a:ext cx="10607040" cy="9601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5840" y="4114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145" y="426910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069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12080" y="4050792"/>
            <a:ext cx="5943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del desgaste de materiales o del comportamiento físico de sistemas no lineales.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" y="521208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145" y="53663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5166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y Marketing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212080" y="5148072"/>
            <a:ext cx="5943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tendencias de ventas y comportamiento del consumidor a través del tiempo.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Polinomial extiende la regresión lineal para capturar relaciones curvas entre variables.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834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del polinomio es la decisión más importante: equilibra ajuste y capacidad de generalización.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" y="388620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3794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un modelo lineal en sus coeficientes, lo que lo hace interpretable y fácil de implementar.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4754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ampliamente aplicable en finanzas, salud, ingeniería y ciencia de datos, siempre que exista una tendencia no lineal clara.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6629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James, G., Witten, D., Hastie, T., &amp; Tibshirani, R. (2021). An Introduction to Statistical Learning. Springer.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Géron, A. (2022). Hands-On Machine Learning with Scikit-Learn, Keras, and TensorFlow. O'Reilly Media.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Developers. Documentación oficial: PolynomialFeatures y LinearRegression. scikit-learn.org.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Montgomery, D. C., Peck, E. A., &amp; Vining, G. G. (2021). Introduction to Linear Regression Analysis. Wiley.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" y="5120640"/>
            <a:ext cx="10607040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1206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1111</Words>
  <Application>Microsoft Office PowerPoint</Application>
  <PresentationFormat>Panorámica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Abiel Ramos</cp:lastModifiedBy>
  <cp:revision>29</cp:revision>
  <dcterms:created xsi:type="dcterms:W3CDTF">2026-07-15T21:44:03Z</dcterms:created>
  <dcterms:modified xsi:type="dcterms:W3CDTF">2026-07-17T22:41:56Z</dcterms:modified>
</cp:coreProperties>
</file>